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6858000" cx="12192000"/>
  <p:notesSz cx="6858000" cy="9144000"/>
  <p:embeddedFontLst>
    <p:embeddedFont>
      <p:font typeface="Open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giwo15ysTBhzSuF3LlpRYD4zoS/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penSans-regular.fntdata"/><Relationship Id="rId11" Type="http://schemas.openxmlformats.org/officeDocument/2006/relationships/slide" Target="slides/slide7.xml"/><Relationship Id="rId22" Type="http://schemas.openxmlformats.org/officeDocument/2006/relationships/font" Target="fonts/OpenSans-italic.fntdata"/><Relationship Id="rId10" Type="http://schemas.openxmlformats.org/officeDocument/2006/relationships/slide" Target="slides/slide6.xml"/><Relationship Id="rId21" Type="http://schemas.openxmlformats.org/officeDocument/2006/relationships/font" Target="fonts/OpenSans-bold.fntdata"/><Relationship Id="rId13" Type="http://schemas.openxmlformats.org/officeDocument/2006/relationships/slide" Target="slides/slide9.xml"/><Relationship Id="rId24" Type="http://customschemas.google.com/relationships/presentationmetadata" Target="metadata"/><Relationship Id="rId12" Type="http://schemas.openxmlformats.org/officeDocument/2006/relationships/slide" Target="slides/slide8.xml"/><Relationship Id="rId23" Type="http://schemas.openxmlformats.org/officeDocument/2006/relationships/font" Target="fonts/OpenSans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13313726f_0_1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g3a13313726f_0_1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" name="Google Shape;104;g3a13313726f_0_1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a13313726f_0_1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g3a13313726f_0_1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g3a13313726f_0_12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/>
              <a:t>Input data: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/>
              <a:t>T1native (the primary anatomical reference image,  serves as the base image for registration, segmentation and normalization)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/>
              <a:t>T2native (complementary contrast image, improves accuracy when combined with T1)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/>
              <a:t>Labels_native (ground truth segmentation in the subject’s native space)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/>
              <a:t>Brainmasknative (skull-stripping mask)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/>
              <a:t>Affine (affine transformation matrix)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/>
              <a:t>The pipeline: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/>
              <a:t>Input (T1native and T2native provide complementary contrast) → Registration (with affine file, the affine transformation aligns both T1 and T2 to a reference) → Pre-processing (skull stripping with Brainmasknative file, intensity normalization, bias correction) → Feature extraction (radiomic and deep learning features)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/>
              <a:t>→ Classification (using extracted features to classify voxels into 6 different regions) → Post-processing (with labels_native file, remove small artifacts, enforce spatial consistency) → final segmentation labels →Evaluation (Compare the final segmentation to GT) with metrics (Dice coefficient, Hausdorff distance)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a13313726f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3a13313726f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8" name="Google Shape;148;g3a13313726f_0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13313726f_0_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a13313726f_0_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9" name="Google Shape;189;g3a13313726f_0_6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6" name="Google Shape;20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a13313726f_0_1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g3a13313726f_0_13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/>
              <a:t>HOGs = Histogram of Oriented Gradients</a:t>
            </a:r>
            <a:endParaRPr/>
          </a:p>
        </p:txBody>
      </p:sp>
      <p:sp>
        <p:nvSpPr>
          <p:cNvPr id="224" name="Google Shape;224;g3a13313726f_0_13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" name="Google Shape;23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95250" lvl="0" marL="1714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232" name="Google Shape;23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9" name="Google Shape;239;p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6" name="Google Shape;24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3" name="Google Shape;253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" name="Google Shape;25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/>
              <a:t>hsd dist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/>
              <a:t>95 in add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/>
              <a:t>maybe 90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/>
              <a:t>seperated pip</a:t>
            </a:r>
            <a:endParaRPr/>
          </a:p>
        </p:txBody>
      </p:sp>
      <p:sp>
        <p:nvSpPr>
          <p:cNvPr id="260" name="Google Shape;260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a13313726f_0_16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g3a13313726f_0_16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7" name="Google Shape;267;g3a13313726f_0_16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9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9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" name="Google Shape;19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3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3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23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23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23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8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descr="A picture containing text&#10;&#10;Description automatically generated" id="15" name="Google Shape;15;p1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9906000" y="-144462"/>
            <a:ext cx="2286000" cy="17907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doi.org/10.3390/sym13030435" TargetMode="External"/><Relationship Id="rId4" Type="http://schemas.openxmlformats.org/officeDocument/2006/relationships/hyperlink" Target="https://doi.org/10.1016/j.jneumeth.2016.06.017" TargetMode="External"/><Relationship Id="rId5" Type="http://schemas.openxmlformats.org/officeDocument/2006/relationships/hyperlink" Target="https://doi.org/10.1109/TPAMI.2005.159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GB"/>
              <a:t>MIA Lab</a:t>
            </a:r>
            <a:br>
              <a:rPr lang="en-GB"/>
            </a:br>
            <a:r>
              <a:rPr lang="en-GB"/>
              <a:t>Final Presentation: </a:t>
            </a:r>
            <a:br>
              <a:rPr lang="en-GB"/>
            </a:br>
            <a:r>
              <a:rPr lang="en-GB"/>
              <a:t>Hypothesis 6</a:t>
            </a:r>
            <a:endParaRPr/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1705825" y="39858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3200"/>
              <a:t>Group 6: Abdelrahman Faqieh, Alexander Aeschbacher, Zejun Yan</a:t>
            </a:r>
            <a:endParaRPr sz="3200"/>
          </a:p>
        </p:txBody>
      </p:sp>
      <p:sp>
        <p:nvSpPr>
          <p:cNvPr id="92" name="Google Shape;92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>
            <p:ph type="ctrTitle"/>
          </p:nvPr>
        </p:nvSpPr>
        <p:spPr>
          <a:xfrm>
            <a:off x="1035425" y="882875"/>
            <a:ext cx="9899100" cy="1557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5400"/>
              <a:buFont typeface="Open Sans"/>
              <a:buNone/>
            </a:pPr>
            <a:r>
              <a:rPr b="1" lang="en-GB" sz="4700">
                <a:solidFill>
                  <a:srgbClr val="1E1E1E"/>
                </a:solidFill>
                <a:latin typeface="Open Sans"/>
                <a:ea typeface="Open Sans"/>
                <a:cs typeface="Open Sans"/>
                <a:sym typeface="Open Sans"/>
              </a:rPr>
              <a:t>Feature extraction and selection </a:t>
            </a:r>
            <a:endParaRPr sz="4700"/>
          </a:p>
        </p:txBody>
      </p:sp>
      <p:sp>
        <p:nvSpPr>
          <p:cNvPr id="99" name="Google Shape;99;p2"/>
          <p:cNvSpPr txBox="1"/>
          <p:nvPr>
            <p:ph idx="1" type="subTitle"/>
          </p:nvPr>
        </p:nvSpPr>
        <p:spPr>
          <a:xfrm>
            <a:off x="1524000" y="2925359"/>
            <a:ext cx="9727500" cy="28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i="1" lang="en-GB" sz="2800"/>
              <a:t>Hypothesis: The segmentation becomes more accurate with a large amount o features. </a:t>
            </a:r>
            <a:endParaRPr b="1" i="1" sz="2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i="1" sz="2800"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i="1" lang="en-GB" sz="2800"/>
              <a:t>What types of features are useful? Radiomics and/or Deep-Learning features? </a:t>
            </a:r>
            <a:endParaRPr i="1" sz="2800"/>
          </a:p>
          <a:p>
            <a:pPr indent="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i="1" sz="2800"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i="1" lang="en-GB" sz="2800"/>
              <a:t>All or sub-set of features improve segmentation performance?</a:t>
            </a:r>
            <a:endParaRPr i="1" sz="2800"/>
          </a:p>
        </p:txBody>
      </p:sp>
      <p:sp>
        <p:nvSpPr>
          <p:cNvPr id="100" name="Google Shape;10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13313726f_0_121"/>
          <p:cNvSpPr txBox="1"/>
          <p:nvPr>
            <p:ph type="title"/>
          </p:nvPr>
        </p:nvSpPr>
        <p:spPr>
          <a:xfrm>
            <a:off x="260075" y="9560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Outline</a:t>
            </a:r>
            <a:endParaRPr/>
          </a:p>
        </p:txBody>
      </p:sp>
      <p:sp>
        <p:nvSpPr>
          <p:cNvPr id="107" name="Google Shape;107;g3a13313726f_0_12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08" name="Google Shape;108;g3a13313726f_0_121"/>
          <p:cNvSpPr txBox="1"/>
          <p:nvPr/>
        </p:nvSpPr>
        <p:spPr>
          <a:xfrm>
            <a:off x="516600" y="1220350"/>
            <a:ext cx="9298800" cy="46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Motivation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Adapted MIA Pipeline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Processing Workflow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 extraction and selection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Experiments and Results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Outlook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13313726f_0_12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Motivation</a:t>
            </a:r>
            <a:endParaRPr/>
          </a:p>
        </p:txBody>
      </p:sp>
      <p:sp>
        <p:nvSpPr>
          <p:cNvPr id="115" name="Google Shape;115;g3a13313726f_0_12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6" name="Google Shape;116;g3a13313726f_0_128"/>
          <p:cNvSpPr txBox="1"/>
          <p:nvPr/>
        </p:nvSpPr>
        <p:spPr>
          <a:xfrm>
            <a:off x="643900" y="1886725"/>
            <a:ext cx="11095500" cy="3509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D22"/>
              </a:buClr>
              <a:buSzPts val="1800"/>
              <a:buFont typeface="Arial"/>
              <a:buChar char="❖"/>
            </a:pPr>
            <a:r>
              <a:rPr b="0" i="0" lang="en-GB" sz="1800" u="none" cap="none" strike="noStrike">
                <a:solidFill>
                  <a:srgbClr val="1A1D22"/>
                </a:solidFill>
                <a:highlight>
                  <a:srgbClr val="F8FAFE"/>
                </a:highlight>
                <a:latin typeface="Arial"/>
                <a:ea typeface="Arial"/>
                <a:cs typeface="Arial"/>
                <a:sym typeface="Arial"/>
              </a:rPr>
              <a:t>There is a unmet clinical need: performing the segmentation task manually is time-consuming, user-dependent, and costly</a:t>
            </a:r>
            <a:endParaRPr b="0" i="0" sz="1800" u="none" cap="none" strike="noStrike">
              <a:solidFill>
                <a:srgbClr val="1A1D22"/>
              </a:solidFill>
              <a:highlight>
                <a:srgbClr val="F8FAFE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1A1D22"/>
              </a:solidFill>
              <a:highlight>
                <a:srgbClr val="F8FAFE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1A1D22"/>
              </a:solidFill>
              <a:highlight>
                <a:srgbClr val="F8FAFE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D22"/>
              </a:buClr>
              <a:buSzPts val="1800"/>
              <a:buFont typeface="Arial"/>
              <a:buChar char="❖"/>
            </a:pPr>
            <a:r>
              <a:rPr b="0" i="0" lang="en-GB" sz="1800" u="none" cap="none" strike="noStrike">
                <a:solidFill>
                  <a:srgbClr val="1A1D22"/>
                </a:solidFill>
                <a:highlight>
                  <a:srgbClr val="F8FAFE"/>
                </a:highlight>
                <a:latin typeface="Arial"/>
                <a:ea typeface="Arial"/>
                <a:cs typeface="Arial"/>
                <a:sym typeface="Arial"/>
              </a:rPr>
              <a:t>The solution is the medical image segmentation task through an automated machine learning (ML) approach. The pipeline aims to classify each voxel of a brain MR image in one of these classes (Background, Cortical and cerebellar white matter, Cerebral and cerebellar grey matter, Hippocampus, Amygdala and Thalamus)</a:t>
            </a:r>
            <a:endParaRPr b="0" i="0" sz="1800" u="none" cap="none" strike="noStrike">
              <a:solidFill>
                <a:srgbClr val="1A1D22"/>
              </a:solidFill>
              <a:highlight>
                <a:srgbClr val="F8FAFE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1A1D22"/>
              </a:solidFill>
              <a:highlight>
                <a:srgbClr val="F8FAFE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1A1D22"/>
              </a:solidFill>
              <a:highlight>
                <a:srgbClr val="F8FAFE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D22"/>
              </a:buClr>
              <a:buSzPts val="1800"/>
              <a:buFont typeface="Arial"/>
              <a:buChar char="❖"/>
            </a:pPr>
            <a:r>
              <a:rPr b="0" i="0" lang="en-GB" sz="1800" u="none" cap="none" strike="noStrike">
                <a:solidFill>
                  <a:srgbClr val="1A1D22"/>
                </a:solidFill>
                <a:highlight>
                  <a:srgbClr val="F8FAFE"/>
                </a:highlight>
                <a:latin typeface="Arial"/>
                <a:ea typeface="Arial"/>
                <a:cs typeface="Arial"/>
                <a:sym typeface="Arial"/>
              </a:rPr>
              <a:t>A typical optimization for faster processing is to check if we can reduce the number of features to decrease the model complexity and the computational burden.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"/>
          <p:cNvSpPr txBox="1"/>
          <p:nvPr>
            <p:ph type="title"/>
          </p:nvPr>
        </p:nvSpPr>
        <p:spPr>
          <a:xfrm>
            <a:off x="74525" y="26030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Adapted MIA Pipeline </a:t>
            </a:r>
            <a:endParaRPr/>
          </a:p>
        </p:txBody>
      </p:sp>
      <p:sp>
        <p:nvSpPr>
          <p:cNvPr id="123" name="Google Shape;123;p3"/>
          <p:cNvSpPr txBox="1"/>
          <p:nvPr>
            <p:ph idx="12" type="sldNum"/>
          </p:nvPr>
        </p:nvSpPr>
        <p:spPr>
          <a:xfrm>
            <a:off x="8917550" y="649290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24" name="Google Shape;124;p3"/>
          <p:cNvSpPr/>
          <p:nvPr/>
        </p:nvSpPr>
        <p:spPr>
          <a:xfrm>
            <a:off x="22290" y="294806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Registration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2523140" y="2948062"/>
            <a:ext cx="1797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Pre-processing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10257524" y="2948062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Random Forest Classification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7541261" y="5817787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Segmentation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10265011" y="5817800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Post-processing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4817511" y="5817787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Evaluation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0" name="Google Shape;130;p3"/>
          <p:cNvCxnSpPr>
            <a:endCxn id="125" idx="1"/>
          </p:cNvCxnSpPr>
          <p:nvPr/>
        </p:nvCxnSpPr>
        <p:spPr>
          <a:xfrm>
            <a:off x="1765340" y="3254062"/>
            <a:ext cx="757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1" name="Google Shape;131;p3"/>
          <p:cNvCxnSpPr/>
          <p:nvPr/>
        </p:nvCxnSpPr>
        <p:spPr>
          <a:xfrm>
            <a:off x="4357627" y="3254062"/>
            <a:ext cx="757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2" name="Google Shape;132;p3"/>
          <p:cNvCxnSpPr/>
          <p:nvPr/>
        </p:nvCxnSpPr>
        <p:spPr>
          <a:xfrm flipH="1" rot="10800000">
            <a:off x="9876775" y="3227055"/>
            <a:ext cx="388200" cy="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3" name="Google Shape;133;p3"/>
          <p:cNvCxnSpPr/>
          <p:nvPr/>
        </p:nvCxnSpPr>
        <p:spPr>
          <a:xfrm flipH="1">
            <a:off x="11215649" y="3650112"/>
            <a:ext cx="3900" cy="2134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4" name="Google Shape;134;p3"/>
          <p:cNvCxnSpPr/>
          <p:nvPr/>
        </p:nvCxnSpPr>
        <p:spPr>
          <a:xfrm rot="10800000">
            <a:off x="9382886" y="6121700"/>
            <a:ext cx="857100" cy="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5" name="Google Shape;135;p3"/>
          <p:cNvCxnSpPr/>
          <p:nvPr/>
        </p:nvCxnSpPr>
        <p:spPr>
          <a:xfrm rot="10800000">
            <a:off x="6659211" y="6121700"/>
            <a:ext cx="857100" cy="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36" name="Google Shape;136;p3"/>
          <p:cNvSpPr/>
          <p:nvPr/>
        </p:nvSpPr>
        <p:spPr>
          <a:xfrm>
            <a:off x="7856075" y="1197562"/>
            <a:ext cx="1841700" cy="6120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First</a:t>
            </a: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 order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p3"/>
          <p:cNvCxnSpPr/>
          <p:nvPr/>
        </p:nvCxnSpPr>
        <p:spPr>
          <a:xfrm>
            <a:off x="6910748" y="3193637"/>
            <a:ext cx="689700" cy="10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38" name="Google Shape;138;p3"/>
          <p:cNvSpPr/>
          <p:nvPr/>
        </p:nvSpPr>
        <p:spPr>
          <a:xfrm>
            <a:off x="5082300" y="2649299"/>
            <a:ext cx="1938000" cy="10008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Feature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Extract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1"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Radiomics)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7856075" y="2265062"/>
            <a:ext cx="1841700" cy="6120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Shape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7856075" y="3332562"/>
            <a:ext cx="1841700" cy="6120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Texture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7856075" y="4505262"/>
            <a:ext cx="1841700" cy="6120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High-order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2" name="Google Shape;142;p3"/>
          <p:cNvCxnSpPr>
            <a:endCxn id="136" idx="1"/>
          </p:cNvCxnSpPr>
          <p:nvPr/>
        </p:nvCxnSpPr>
        <p:spPr>
          <a:xfrm flipH="1" rot="10800000">
            <a:off x="7657475" y="1503562"/>
            <a:ext cx="1986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3" name="Google Shape;143;p3"/>
          <p:cNvCxnSpPr/>
          <p:nvPr/>
        </p:nvCxnSpPr>
        <p:spPr>
          <a:xfrm flipH="1">
            <a:off x="7646975" y="1504062"/>
            <a:ext cx="21000" cy="3345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4" name="Google Shape;144;p3"/>
          <p:cNvCxnSpPr/>
          <p:nvPr/>
        </p:nvCxnSpPr>
        <p:spPr>
          <a:xfrm flipH="1" rot="10800000">
            <a:off x="7657475" y="4880875"/>
            <a:ext cx="1986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13313726f_0_23"/>
          <p:cNvSpPr txBox="1"/>
          <p:nvPr>
            <p:ph type="title"/>
          </p:nvPr>
        </p:nvSpPr>
        <p:spPr>
          <a:xfrm>
            <a:off x="0" y="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Data processing workflow</a:t>
            </a:r>
            <a:endParaRPr/>
          </a:p>
        </p:txBody>
      </p:sp>
      <p:sp>
        <p:nvSpPr>
          <p:cNvPr id="151" name="Google Shape;151;g3a13313726f_0_2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52" name="Google Shape;152;g3a13313726f_0_23"/>
          <p:cNvSpPr/>
          <p:nvPr/>
        </p:nvSpPr>
        <p:spPr>
          <a:xfrm>
            <a:off x="127115" y="177261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Subject 1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a13313726f_0_23"/>
          <p:cNvSpPr/>
          <p:nvPr/>
        </p:nvSpPr>
        <p:spPr>
          <a:xfrm>
            <a:off x="127115" y="2651237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Subject 2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g3a13313726f_0_23"/>
          <p:cNvSpPr/>
          <p:nvPr/>
        </p:nvSpPr>
        <p:spPr>
          <a:xfrm>
            <a:off x="127115" y="352986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Subject 3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a13313726f_0_23"/>
          <p:cNvSpPr/>
          <p:nvPr/>
        </p:nvSpPr>
        <p:spPr>
          <a:xfrm>
            <a:off x="127115" y="619056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Subject 30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a13313726f_0_23"/>
          <p:cNvSpPr/>
          <p:nvPr/>
        </p:nvSpPr>
        <p:spPr>
          <a:xfrm>
            <a:off x="127115" y="536206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Subject 29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a13313726f_0_23"/>
          <p:cNvSpPr/>
          <p:nvPr/>
        </p:nvSpPr>
        <p:spPr>
          <a:xfrm>
            <a:off x="2633925" y="2874975"/>
            <a:ext cx="2032800" cy="2171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GB" sz="21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MIA </a:t>
            </a:r>
            <a:endParaRPr b="1" i="0" sz="2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GB" sz="21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Pipeline</a:t>
            </a:r>
            <a:endParaRPr b="1" i="0" sz="2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GB" sz="21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(registration-&gt;</a:t>
            </a:r>
            <a:endParaRPr b="1" i="0" sz="2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GB" sz="21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pre-processing-&gt;</a:t>
            </a:r>
            <a:endParaRPr b="1" i="0" sz="2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GB" sz="21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feature extraction)</a:t>
            </a:r>
            <a:endParaRPr b="1" i="0" sz="2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8" name="Google Shape;158;g3a13313726f_0_23"/>
          <p:cNvCxnSpPr/>
          <p:nvPr/>
        </p:nvCxnSpPr>
        <p:spPr>
          <a:xfrm flipH="1" rot="10800000">
            <a:off x="1870115" y="207381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9" name="Google Shape;159;g3a13313726f_0_23"/>
          <p:cNvCxnSpPr/>
          <p:nvPr/>
        </p:nvCxnSpPr>
        <p:spPr>
          <a:xfrm flipH="1" rot="10800000">
            <a:off x="1870115" y="295483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0" name="Google Shape;160;g3a13313726f_0_23"/>
          <p:cNvCxnSpPr/>
          <p:nvPr/>
        </p:nvCxnSpPr>
        <p:spPr>
          <a:xfrm flipH="1" rot="10800000">
            <a:off x="1870115" y="386851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1" name="Google Shape;161;g3a13313726f_0_23"/>
          <p:cNvCxnSpPr/>
          <p:nvPr/>
        </p:nvCxnSpPr>
        <p:spPr>
          <a:xfrm flipH="1" rot="10800000">
            <a:off x="1870115" y="572793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2" name="Google Shape;162;g3a13313726f_0_23"/>
          <p:cNvCxnSpPr/>
          <p:nvPr/>
        </p:nvCxnSpPr>
        <p:spPr>
          <a:xfrm flipH="1" rot="10800000">
            <a:off x="1870115" y="653651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3" name="Google Shape;163;g3a13313726f_0_23"/>
          <p:cNvCxnSpPr/>
          <p:nvPr/>
        </p:nvCxnSpPr>
        <p:spPr>
          <a:xfrm>
            <a:off x="2186325" y="2066313"/>
            <a:ext cx="45000" cy="4492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g3a13313726f_0_23"/>
          <p:cNvSpPr/>
          <p:nvPr/>
        </p:nvSpPr>
        <p:spPr>
          <a:xfrm>
            <a:off x="5430522" y="1755087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Features Subject 1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g3a13313726f_0_23"/>
          <p:cNvSpPr/>
          <p:nvPr/>
        </p:nvSpPr>
        <p:spPr>
          <a:xfrm>
            <a:off x="5430522" y="263371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Features Subject 2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a13313726f_0_23"/>
          <p:cNvSpPr/>
          <p:nvPr/>
        </p:nvSpPr>
        <p:spPr>
          <a:xfrm>
            <a:off x="5430522" y="3547387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Features Subject 3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a13313726f_0_23"/>
          <p:cNvSpPr/>
          <p:nvPr/>
        </p:nvSpPr>
        <p:spPr>
          <a:xfrm>
            <a:off x="5430515" y="527486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Features Subject 29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a13313726f_0_23"/>
          <p:cNvSpPr/>
          <p:nvPr/>
        </p:nvSpPr>
        <p:spPr>
          <a:xfrm>
            <a:off x="5430515" y="623291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Features Subject 30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g3a13313726f_0_23"/>
          <p:cNvSpPr/>
          <p:nvPr/>
        </p:nvSpPr>
        <p:spPr>
          <a:xfrm>
            <a:off x="9269075" y="1802550"/>
            <a:ext cx="2380800" cy="25371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GB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Train</a:t>
            </a:r>
            <a:endParaRPr b="1" i="0" sz="3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GB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set</a:t>
            </a:r>
            <a:endParaRPr b="1" i="0" sz="3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g3a13313726f_0_23"/>
          <p:cNvSpPr/>
          <p:nvPr/>
        </p:nvSpPr>
        <p:spPr>
          <a:xfrm>
            <a:off x="9269075" y="4676275"/>
            <a:ext cx="2380800" cy="2108100"/>
          </a:xfrm>
          <a:prstGeom prst="rect">
            <a:avLst/>
          </a:prstGeom>
          <a:solidFill>
            <a:schemeClr val="accent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GB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Test</a:t>
            </a:r>
            <a:endParaRPr b="1" i="0" sz="3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GB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set</a:t>
            </a:r>
            <a:endParaRPr b="1" i="0" sz="3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1" name="Google Shape;171;g3a13313726f_0_23"/>
          <p:cNvCxnSpPr/>
          <p:nvPr/>
        </p:nvCxnSpPr>
        <p:spPr>
          <a:xfrm flipH="1" rot="10800000">
            <a:off x="7173515" y="207621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2" name="Google Shape;172;g3a13313726f_0_23"/>
          <p:cNvCxnSpPr/>
          <p:nvPr/>
        </p:nvCxnSpPr>
        <p:spPr>
          <a:xfrm flipH="1" rot="10800000">
            <a:off x="7173515" y="295483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3" name="Google Shape;173;g3a13313726f_0_23"/>
          <p:cNvCxnSpPr/>
          <p:nvPr/>
        </p:nvCxnSpPr>
        <p:spPr>
          <a:xfrm flipH="1" rot="10800000">
            <a:off x="7173515" y="557846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4" name="Google Shape;174;g3a13313726f_0_23"/>
          <p:cNvCxnSpPr/>
          <p:nvPr/>
        </p:nvCxnSpPr>
        <p:spPr>
          <a:xfrm flipH="1" rot="10800000">
            <a:off x="7173515" y="660628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5" name="Google Shape;175;g3a13313726f_0_23"/>
          <p:cNvCxnSpPr/>
          <p:nvPr/>
        </p:nvCxnSpPr>
        <p:spPr>
          <a:xfrm>
            <a:off x="7489725" y="2066313"/>
            <a:ext cx="34500" cy="4567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6" name="Google Shape;176;g3a13313726f_0_23"/>
          <p:cNvCxnSpPr/>
          <p:nvPr/>
        </p:nvCxnSpPr>
        <p:spPr>
          <a:xfrm flipH="1" rot="10800000">
            <a:off x="7524225" y="4402275"/>
            <a:ext cx="1699500" cy="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77" name="Google Shape;177;g3a13313726f_0_23"/>
          <p:cNvSpPr txBox="1"/>
          <p:nvPr/>
        </p:nvSpPr>
        <p:spPr>
          <a:xfrm>
            <a:off x="7357575" y="3473377"/>
            <a:ext cx="20328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GB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Split </a:t>
            </a:r>
            <a:endParaRPr b="1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GB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subject</a:t>
            </a:r>
            <a:endParaRPr b="1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8" name="Google Shape;178;g3a13313726f_0_23"/>
          <p:cNvCxnSpPr/>
          <p:nvPr/>
        </p:nvCxnSpPr>
        <p:spPr>
          <a:xfrm>
            <a:off x="2211375" y="3869850"/>
            <a:ext cx="404100" cy="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79" name="Google Shape;179;g3a13313726f_0_23"/>
          <p:cNvCxnSpPr/>
          <p:nvPr/>
        </p:nvCxnSpPr>
        <p:spPr>
          <a:xfrm>
            <a:off x="4658475" y="3918725"/>
            <a:ext cx="404100" cy="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80" name="Google Shape;180;g3a13313726f_0_23"/>
          <p:cNvCxnSpPr/>
          <p:nvPr/>
        </p:nvCxnSpPr>
        <p:spPr>
          <a:xfrm flipH="1" rot="10800000">
            <a:off x="5099690" y="205868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1" name="Google Shape;181;g3a13313726f_0_23"/>
          <p:cNvCxnSpPr/>
          <p:nvPr/>
        </p:nvCxnSpPr>
        <p:spPr>
          <a:xfrm flipH="1" rot="10800000">
            <a:off x="5099690" y="293731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2" name="Google Shape;182;g3a13313726f_0_23"/>
          <p:cNvCxnSpPr/>
          <p:nvPr/>
        </p:nvCxnSpPr>
        <p:spPr>
          <a:xfrm flipH="1" rot="10800000">
            <a:off x="5099690" y="391738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3" name="Google Shape;183;g3a13313726f_0_23"/>
          <p:cNvCxnSpPr/>
          <p:nvPr/>
        </p:nvCxnSpPr>
        <p:spPr>
          <a:xfrm flipH="1" rot="10800000">
            <a:off x="5099690" y="557846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4" name="Google Shape;184;g3a13313726f_0_23"/>
          <p:cNvCxnSpPr/>
          <p:nvPr/>
        </p:nvCxnSpPr>
        <p:spPr>
          <a:xfrm flipH="1" rot="10800000">
            <a:off x="5104713" y="660628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" name="Google Shape;185;g3a13313726f_0_23"/>
          <p:cNvCxnSpPr/>
          <p:nvPr/>
        </p:nvCxnSpPr>
        <p:spPr>
          <a:xfrm>
            <a:off x="5084377" y="2066313"/>
            <a:ext cx="34500" cy="4567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13313726f_0_66"/>
          <p:cNvSpPr txBox="1"/>
          <p:nvPr>
            <p:ph type="title"/>
          </p:nvPr>
        </p:nvSpPr>
        <p:spPr>
          <a:xfrm>
            <a:off x="0" y="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Data processing workflow</a:t>
            </a:r>
            <a:endParaRPr/>
          </a:p>
        </p:txBody>
      </p:sp>
      <p:sp>
        <p:nvSpPr>
          <p:cNvPr id="192" name="Google Shape;192;g3a13313726f_0_66"/>
          <p:cNvSpPr/>
          <p:nvPr/>
        </p:nvSpPr>
        <p:spPr>
          <a:xfrm>
            <a:off x="209925" y="2160450"/>
            <a:ext cx="2380800" cy="25371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GB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Train</a:t>
            </a:r>
            <a:endParaRPr b="1" i="0" sz="3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GB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set</a:t>
            </a:r>
            <a:endParaRPr b="1" i="0" sz="3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g3a13313726f_0_66"/>
          <p:cNvSpPr/>
          <p:nvPr/>
        </p:nvSpPr>
        <p:spPr>
          <a:xfrm>
            <a:off x="6381175" y="2593200"/>
            <a:ext cx="1706700" cy="1671600"/>
          </a:xfrm>
          <a:prstGeom prst="rect">
            <a:avLst/>
          </a:prstGeom>
          <a:solidFill>
            <a:schemeClr val="accent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GB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Test</a:t>
            </a:r>
            <a:endParaRPr b="1" i="0" sz="3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GB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set</a:t>
            </a:r>
            <a:endParaRPr b="1" i="0" sz="3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4" name="Google Shape;194;g3a13313726f_0_66"/>
          <p:cNvCxnSpPr/>
          <p:nvPr/>
        </p:nvCxnSpPr>
        <p:spPr>
          <a:xfrm flipH="1" rot="10800000">
            <a:off x="2590725" y="3421500"/>
            <a:ext cx="853200" cy="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95" name="Google Shape;195;g3a13313726f_0_66"/>
          <p:cNvSpPr/>
          <p:nvPr/>
        </p:nvSpPr>
        <p:spPr>
          <a:xfrm>
            <a:off x="3476450" y="2963394"/>
            <a:ext cx="2019000" cy="923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Random Forest 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classification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6" name="Google Shape;196;g3a13313726f_0_66"/>
          <p:cNvCxnSpPr/>
          <p:nvPr/>
        </p:nvCxnSpPr>
        <p:spPr>
          <a:xfrm flipH="1" rot="10800000">
            <a:off x="5495450" y="3421500"/>
            <a:ext cx="853200" cy="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97" name="Google Shape;197;g3a13313726f_0_66"/>
          <p:cNvSpPr/>
          <p:nvPr/>
        </p:nvSpPr>
        <p:spPr>
          <a:xfrm>
            <a:off x="8973611" y="3123000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Post-processing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g3a13313726f_0_66"/>
          <p:cNvSpPr/>
          <p:nvPr/>
        </p:nvSpPr>
        <p:spPr>
          <a:xfrm>
            <a:off x="8938836" y="4467985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Segmentation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9" name="Google Shape;199;g3a13313726f_0_66"/>
          <p:cNvCxnSpPr/>
          <p:nvPr/>
        </p:nvCxnSpPr>
        <p:spPr>
          <a:xfrm flipH="1" rot="10800000">
            <a:off x="8087875" y="3421500"/>
            <a:ext cx="853200" cy="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00" name="Google Shape;200;g3a13313726f_0_66"/>
          <p:cNvSpPr/>
          <p:nvPr/>
        </p:nvSpPr>
        <p:spPr>
          <a:xfrm>
            <a:off x="8973611" y="5855212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Evaluation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1" name="Google Shape;201;g3a13313726f_0_66"/>
          <p:cNvCxnSpPr/>
          <p:nvPr/>
        </p:nvCxnSpPr>
        <p:spPr>
          <a:xfrm>
            <a:off x="9858325" y="3796988"/>
            <a:ext cx="2700" cy="60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02" name="Google Shape;202;g3a13313726f_0_66"/>
          <p:cNvCxnSpPr/>
          <p:nvPr/>
        </p:nvCxnSpPr>
        <p:spPr>
          <a:xfrm>
            <a:off x="9858325" y="5174575"/>
            <a:ext cx="2700" cy="60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Methods – Feature extraction</a:t>
            </a:r>
            <a:endParaRPr/>
          </a:p>
        </p:txBody>
      </p:sp>
      <p:sp>
        <p:nvSpPr>
          <p:cNvPr id="209" name="Google Shape;209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0" name="Google Shape;210;p4"/>
          <p:cNvSpPr/>
          <p:nvPr/>
        </p:nvSpPr>
        <p:spPr>
          <a:xfrm>
            <a:off x="4374850" y="1930800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Radiomics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1" name="Google Shape;211;p4"/>
          <p:cNvCxnSpPr/>
          <p:nvPr/>
        </p:nvCxnSpPr>
        <p:spPr>
          <a:xfrm>
            <a:off x="1250300" y="3406550"/>
            <a:ext cx="8557500" cy="2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2" name="Google Shape;212;p4"/>
          <p:cNvCxnSpPr/>
          <p:nvPr/>
        </p:nvCxnSpPr>
        <p:spPr>
          <a:xfrm>
            <a:off x="5245300" y="2583900"/>
            <a:ext cx="2100" cy="80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3" name="Google Shape;213;p4"/>
          <p:cNvCxnSpPr/>
          <p:nvPr/>
        </p:nvCxnSpPr>
        <p:spPr>
          <a:xfrm>
            <a:off x="1250300" y="3387900"/>
            <a:ext cx="2100" cy="80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4" name="Google Shape;214;p4"/>
          <p:cNvCxnSpPr/>
          <p:nvPr/>
        </p:nvCxnSpPr>
        <p:spPr>
          <a:xfrm>
            <a:off x="4374850" y="3406550"/>
            <a:ext cx="2100" cy="80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5" name="Google Shape;215;p4"/>
          <p:cNvCxnSpPr/>
          <p:nvPr/>
        </p:nvCxnSpPr>
        <p:spPr>
          <a:xfrm>
            <a:off x="7536975" y="3429050"/>
            <a:ext cx="2100" cy="80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6" name="Google Shape;216;p4"/>
          <p:cNvCxnSpPr/>
          <p:nvPr/>
        </p:nvCxnSpPr>
        <p:spPr>
          <a:xfrm>
            <a:off x="9807800" y="3429050"/>
            <a:ext cx="2100" cy="80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7" name="Google Shape;217;p4"/>
          <p:cNvSpPr/>
          <p:nvPr/>
        </p:nvSpPr>
        <p:spPr>
          <a:xfrm>
            <a:off x="177350" y="4233050"/>
            <a:ext cx="2218500" cy="1786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First-order 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(intensity-based)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E.g. distribution of voxel intensities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4"/>
          <p:cNvSpPr/>
          <p:nvPr/>
        </p:nvSpPr>
        <p:spPr>
          <a:xfrm>
            <a:off x="3334000" y="4233050"/>
            <a:ext cx="2218500" cy="1786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Shapes (2D/3D)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E.g. volume, compactness, sphericity)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"/>
          <p:cNvSpPr/>
          <p:nvPr/>
        </p:nvSpPr>
        <p:spPr>
          <a:xfrm>
            <a:off x="6391275" y="4265674"/>
            <a:ext cx="2218500" cy="1786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Texture (spatial patterns and heterogeneity)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E.g. GLCM, GLRLM, GLSZM and NGTDM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"/>
          <p:cNvSpPr/>
          <p:nvPr/>
        </p:nvSpPr>
        <p:spPr>
          <a:xfrm>
            <a:off x="9141650" y="4265688"/>
            <a:ext cx="2218500" cy="175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High-order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E.g. wavelet and Laplacian of Gaussian</a:t>
            </a:r>
            <a:endParaRPr b="1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13313726f_0_13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Methods – Feature selection</a:t>
            </a:r>
            <a:endParaRPr/>
          </a:p>
        </p:txBody>
      </p:sp>
      <p:sp>
        <p:nvSpPr>
          <p:cNvPr id="227" name="Google Shape;227;g3a13313726f_0_13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g3a13313726f_0_134"/>
          <p:cNvSpPr txBox="1"/>
          <p:nvPr/>
        </p:nvSpPr>
        <p:spPr>
          <a:xfrm>
            <a:off x="890950" y="1852338"/>
            <a:ext cx="11394900" cy="43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Decision forest feature importance (model-based)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Principal Component Analysis (projection-based)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Mutual Information based Feature Selection (information-theoretic)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5"/>
          <p:cNvSpPr txBox="1"/>
          <p:nvPr>
            <p:ph type="title"/>
          </p:nvPr>
        </p:nvSpPr>
        <p:spPr>
          <a:xfrm>
            <a:off x="205900" y="4299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sz="3800"/>
              <a:t>Experiment and Results 1 - Radiomic features</a:t>
            </a:r>
            <a:endParaRPr sz="3800"/>
          </a:p>
        </p:txBody>
      </p:sp>
      <p:sp>
        <p:nvSpPr>
          <p:cNvPr id="235" name="Google Shape;235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"/>
          <p:cNvSpPr txBox="1"/>
          <p:nvPr>
            <p:ph type="title"/>
          </p:nvPr>
        </p:nvSpPr>
        <p:spPr>
          <a:xfrm>
            <a:off x="97000" y="3576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sz="3100"/>
              <a:t>Experiment and Results 1 - Selected radiomic features</a:t>
            </a:r>
            <a:endParaRPr sz="3100"/>
          </a:p>
        </p:txBody>
      </p:sp>
      <p:sp>
        <p:nvSpPr>
          <p:cNvPr id="242" name="Google Shape;242;p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Conclusion</a:t>
            </a:r>
            <a:endParaRPr/>
          </a:p>
        </p:txBody>
      </p:sp>
      <p:sp>
        <p:nvSpPr>
          <p:cNvPr id="249" name="Google Shape;2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Outlook</a:t>
            </a:r>
            <a:endParaRPr/>
          </a:p>
        </p:txBody>
      </p:sp>
      <p:sp>
        <p:nvSpPr>
          <p:cNvPr id="256" name="Google Shape;25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descr="Icon&#10;&#10;Description automatically generated" id="263" name="Google Shape;263;p17"/>
          <p:cNvPicPr preferRelativeResize="0"/>
          <p:nvPr/>
        </p:nvPicPr>
        <p:blipFill rotWithShape="1">
          <a:blip r:embed="rId3">
            <a:alphaModFix/>
          </a:blip>
          <a:srcRect b="7133" l="12537" r="10319" t="12235"/>
          <a:stretch/>
        </p:blipFill>
        <p:spPr>
          <a:xfrm>
            <a:off x="3581401" y="705722"/>
            <a:ext cx="4939003" cy="56506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a13313726f_0_16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References</a:t>
            </a:r>
            <a:endParaRPr/>
          </a:p>
        </p:txBody>
      </p:sp>
      <p:sp>
        <p:nvSpPr>
          <p:cNvPr id="270" name="Google Shape;270;g3a13313726f_0_16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1" name="Google Shape;271;g3a13313726f_0_168"/>
          <p:cNvSpPr txBox="1"/>
          <p:nvPr/>
        </p:nvSpPr>
        <p:spPr>
          <a:xfrm>
            <a:off x="980775" y="1819325"/>
            <a:ext cx="9807900" cy="46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n-GB" sz="15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Zhang, W., Guo, Y. and Jin, Q., 2021. </a:t>
            </a:r>
            <a:r>
              <a:rPr b="0" i="1" lang="en-GB" sz="15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Radiomics and Its Feature Selection: A Review.</a:t>
            </a:r>
            <a:r>
              <a:rPr b="0" i="0" lang="en-GB" sz="15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 Symmetry, 13(3), p.435. </a:t>
            </a:r>
            <a:r>
              <a:rPr b="0" i="0" lang="en-GB" sz="155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https://doi.org/10.3390/sym13030435</a:t>
            </a:r>
            <a:endParaRPr b="0" i="0" sz="155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 b="0" i="0" sz="165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GB" sz="12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Pereira, S., Pinto, A., Oliveira, J., Mendrik, A.M., Correia, J.H. and Silva, C.A., 2016. </a:t>
            </a:r>
            <a:r>
              <a:rPr b="0" i="1" lang="en-GB" sz="12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Automatic brain tissue segmentation in MR images using Random Forests and Conditional Random Fields.</a:t>
            </a:r>
            <a:r>
              <a:rPr b="0" i="0" lang="en-GB" sz="12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 Journal of Neuroscience Methods, 270, pp.111–123. </a:t>
            </a:r>
            <a:r>
              <a:rPr b="0" i="0" lang="en-GB" sz="125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https://doi.org/10.1016/j.jneumeth.2016.06.017</a:t>
            </a:r>
            <a:endParaRPr b="0" i="0" sz="125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t/>
            </a:r>
            <a:endParaRPr b="0" i="0" sz="145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GB" sz="12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Peng, H., Long, F. and Ding, C., 2005. </a:t>
            </a:r>
            <a:r>
              <a:rPr b="0" i="1" lang="en-GB" sz="12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Feature selection based on mutual information: Criteria of max-dependency, max-relevance, and min-redundancy.</a:t>
            </a:r>
            <a:r>
              <a:rPr b="0" i="0" lang="en-GB" sz="12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 IEEE Transactions on Pattern Analysis and Machine Intelligence, 27(8), pp.1226–1238. </a:t>
            </a:r>
            <a:r>
              <a:rPr b="0" i="0" lang="en-GB" sz="125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https://doi.org/10.1109/TPAMI.2005.159</a:t>
            </a:r>
            <a:endParaRPr b="0" i="0" sz="125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t/>
            </a:r>
            <a:endParaRPr b="0" i="0" sz="125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0" i="0" lang="en-GB" sz="14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Hutter, J., Price, A.N. and Hajnal, J.V., 2017. </a:t>
            </a:r>
            <a:r>
              <a:rPr b="0" i="1" lang="en-GB" sz="14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Deep learning for brain MRI segmentation: State of the art and future directions.</a:t>
            </a:r>
            <a:r>
              <a:rPr b="0" i="0" lang="en-GB" sz="145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 Journal of Magnetic Resonance Imaging, 47(2), pp.505–520. https://doi.org/10.1002/jmri.25734</a:t>
            </a:r>
            <a:endParaRPr b="0" i="0" sz="145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t/>
            </a:r>
            <a:endParaRPr b="0" i="0" sz="125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 b="0" i="0" sz="165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15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2022-11-10T12:20:49Z</dcterms:created>
  <dc:creator>Portmann, Rafaela Tamara (STUDENTS)</dc:creator>
</cp:coreProperties>
</file>